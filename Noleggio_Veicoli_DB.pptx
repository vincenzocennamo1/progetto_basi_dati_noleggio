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gMRKwZ1cT5RbNnqnCSMw+WB+ug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Slide di titolo – presentare il progetto e il contesto del corso.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Descrivere l'obiettivo generale del sistema e le 8 funzionalità principali.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Illustrare gli obiettivi del sistema e le entità individuate nell'analisi dei requisiti.</a:t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Elencare le informazioni da memorizzare per ciascuna entità.</a:t>
            </a:r>
            <a:endParaRPr/>
          </a:p>
        </p:txBody>
      </p:sp>
      <p:sp>
        <p:nvSpPr>
          <p:cNvPr id="80" name="Google Shape;8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Presentare il modello ER iniziale con le due generalizzazioni.</a:t>
            </a:r>
            <a:endParaRPr/>
          </a:p>
        </p:txBody>
      </p:sp>
      <p:sp>
        <p:nvSpPr>
          <p:cNvPr id="112" name="Google Shape;11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Spiegare le tre strategie di risoluzione della generalizzazione Utente e motivare la scelta adottata.</a:t>
            </a:r>
            <a:endParaRPr/>
          </a:p>
        </p:txBody>
      </p:sp>
      <p:sp>
        <p:nvSpPr>
          <p:cNvPr id="175" name="Google Shape;17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Motivare il collasso delle sottoclassi Veicolo nella superclasse. Evidenziare attributi comuni.</a:t>
            </a:r>
            <a:endParaRPr/>
          </a:p>
        </p:txBody>
      </p:sp>
      <p:sp>
        <p:nvSpPr>
          <p:cNvPr id="199" name="Google Shape;19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Presentare il modello ER finale. Enfatizzare la semplificazione rispetto al modello iniziale.</a:t>
            </a:r>
            <a:endParaRPr/>
          </a:p>
        </p:txBody>
      </p:sp>
      <p:sp>
        <p:nvSpPr>
          <p:cNvPr id="223" name="Google Shape;22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Presentare le 5 tabelle del modello relazionale con chiavi primarie, attributi e vincoli.</a:t>
            </a:r>
            <a:endParaRPr/>
          </a:p>
        </p:txBody>
      </p:sp>
      <p:sp>
        <p:nvSpPr>
          <p:cNvPr id="265" name="Google Shape;26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Presentare tutti i vincoli tra le entità. Soffermarsi sulla cardinalità delle relazioni.</a:t>
            </a:r>
            <a:endParaRPr/>
          </a:p>
        </p:txBody>
      </p:sp>
      <p:sp>
        <p:nvSpPr>
          <p:cNvPr id="297" name="Google Shape;29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Descrivere il pattern MVT di Django e come le funzionalità sono distribuite tra i tre livelli.</a:t>
            </a:r>
            <a:endParaRPr/>
          </a:p>
        </p:txBody>
      </p:sp>
      <p:sp>
        <p:nvSpPr>
          <p:cNvPr id="349" name="Google Shape;34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Descrivere le 5 schermate principali dell'interfaccia web.</a:t>
            </a:r>
            <a:endParaRPr/>
          </a:p>
        </p:txBody>
      </p:sp>
      <p:sp>
        <p:nvSpPr>
          <p:cNvPr id="370" name="Google Shape;37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1" name="Google Shape;40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Descrivere i tre meccanismi di sicurezza implementati: autenticazione, sessioni e integrità.</a:t>
            </a:r>
            <a:endParaRPr/>
          </a:p>
        </p:txBody>
      </p:sp>
      <p:sp>
        <p:nvSpPr>
          <p:cNvPr id="402" name="Google Shape;40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Slide finale. Riassumere le fasi completate e il valore del progetto.</a:t>
            </a:r>
            <a:endParaRPr/>
          </a:p>
        </p:txBody>
      </p:sp>
      <p:sp>
        <p:nvSpPr>
          <p:cNvPr id="424" name="Google Shape;42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943600" y="-731520"/>
            <a:ext cx="4114800" cy="4114800"/>
          </a:xfrm>
          <a:prstGeom prst="ellipse">
            <a:avLst/>
          </a:prstGeom>
          <a:solidFill>
            <a:srgbClr val="0D7377">
              <a:alpha val="18039"/>
            </a:srgbClr>
          </a:solidFill>
          <a:ln cap="flat" cmpd="sng" w="12700">
            <a:solidFill>
              <a:srgbClr val="0D7377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DB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PROGETTO DI BASI DI DATI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097280"/>
            <a:ext cx="7315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Sistema per la Gestione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 un Servizio di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Noleggio Veicoli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3520440"/>
            <a:ext cx="2011680" cy="36576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48640" y="3657600"/>
            <a:ext cx="640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DB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Studente: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Vincenzo Cennamo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4196905"/>
            <a:ext cx="640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DB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Anno Accademico: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2025/2026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548650" y="3920800"/>
            <a:ext cx="5215800" cy="3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4BDBB"/>
              </a:buClr>
              <a:buSzPts val="1400"/>
              <a:buFont typeface="Calibri"/>
              <a:buNone/>
            </a:pPr>
            <a:r>
              <a:rPr b="1" lang="en-US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Matricola</a:t>
            </a:r>
            <a:r>
              <a:rPr b="1" lang="en-US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0334000260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Introduzione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365760" y="960120"/>
            <a:ext cx="411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Il sistema è stato progettato per digitalizzare tutte le operazioni di un'azienda di noleggio veicoli, seguendo le principali metodologie di progettazione delle basi di dati: dall'analisi dei requisiti fino al modello logico e all'applicazione web.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663440" y="91440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4773168" y="111556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138928" y="105156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Registrazione e gestione utenti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6949440" y="91440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7059168" y="111556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7424928" y="105156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Gestione personale addetto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663440" y="173736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73168" y="193852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138928" y="187452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Gestione veicoli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949440" y="173736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59168" y="193852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424928" y="187452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Inserimento prenotazioni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4663440" y="256032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4773168" y="276148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5138928" y="26974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Gestione cauzioni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6949440" y="256032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059168" y="276148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424928" y="26974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Generazione contratti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4663440" y="338328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4773168" y="358444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5138928" y="352044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Monitoraggio stato veicoli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6949440" y="3383280"/>
            <a:ext cx="2148840" cy="73152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059168" y="3584448"/>
            <a:ext cx="292608" cy="292608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7424928" y="352044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Controllo attività staff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1. Studio di Fattibilità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320040" y="914400"/>
            <a:ext cx="4023360" cy="3611880"/>
          </a:xfrm>
          <a:prstGeom prst="roundRect">
            <a:avLst>
              <a:gd fmla="val 2532" name="adj"/>
            </a:avLst>
          </a:prstGeom>
          <a:solidFill>
            <a:srgbClr val="FFFFFF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457200" y="100584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0D7377"/>
                </a:solidFill>
                <a:latin typeface="Cambria"/>
                <a:ea typeface="Cambria"/>
                <a:cs typeface="Cambria"/>
                <a:sym typeface="Cambria"/>
              </a:rPr>
              <a:t>Obiettivo del Sistema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502920" y="1417320"/>
            <a:ext cx="36576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Registrare gli utenti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Distinguere personale da utenti normali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Gestire le informazioni sui veicoli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Effettuare prenotazioni online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Generare contratti di noleggio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Monitorare pagamenti e cauzioni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Controllare disponibilità veicoli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663440" y="91440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Entità principali individuate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4663440" y="1371600"/>
            <a:ext cx="4114800" cy="530352"/>
          </a:xfrm>
          <a:prstGeom prst="roundRect">
            <a:avLst>
              <a:gd fmla="val 13793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"/>
          <p:cNvSpPr/>
          <p:nvPr/>
        </p:nvSpPr>
        <p:spPr>
          <a:xfrm>
            <a:off x="4754880" y="1426464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Utenti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663440" y="2029968"/>
            <a:ext cx="4114800" cy="530352"/>
          </a:xfrm>
          <a:prstGeom prst="roundRect">
            <a:avLst>
              <a:gd fmla="val 13793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4754880" y="2084832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Personale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663440" y="2688336"/>
            <a:ext cx="4114800" cy="530352"/>
          </a:xfrm>
          <a:prstGeom prst="roundRect">
            <a:avLst>
              <a:gd fmla="val 13793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4754880" y="274320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Veicoli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663440" y="3346704"/>
            <a:ext cx="4114800" cy="530352"/>
          </a:xfrm>
          <a:prstGeom prst="roundRect">
            <a:avLst>
              <a:gd fmla="val 13793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4754880" y="3401568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Prenotazioni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663440" y="4005072"/>
            <a:ext cx="4114800" cy="530352"/>
          </a:xfrm>
          <a:prstGeom prst="roundRect">
            <a:avLst>
              <a:gd fmla="val 13793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4754880" y="4059936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Contratti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1.2 Analisi dei Requisiti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274320" y="914400"/>
            <a:ext cx="1572768" cy="329184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274320" y="914400"/>
            <a:ext cx="1572768" cy="457200"/>
          </a:xfrm>
          <a:prstGeom prst="roundRect">
            <a:avLst>
              <a:gd fmla="val 16000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274320" y="1280160"/>
            <a:ext cx="1572768" cy="914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320040" y="914400"/>
            <a:ext cx="148132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Utenti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365760" y="1463040"/>
            <a:ext cx="1408176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ID</a:t>
            </a:r>
            <a:endParaRPr b="0" i="0" sz="1000" u="none" cap="none" strike="noStrike">
              <a:solidFill>
                <a:srgbClr val="1B2A4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Nome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Password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Email</a:t>
            </a:r>
            <a:endParaRPr sz="1000">
              <a:solidFill>
                <a:srgbClr val="1B2A4A"/>
              </a:solidFill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C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ognome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Telefono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Tipologia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2011680" y="914400"/>
            <a:ext cx="1572768" cy="329184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2011680" y="914400"/>
            <a:ext cx="1572768" cy="457200"/>
          </a:xfrm>
          <a:prstGeom prst="roundRect">
            <a:avLst>
              <a:gd fmla="val 16000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2011680" y="1280160"/>
            <a:ext cx="1572768" cy="914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"/>
          <p:cNvSpPr/>
          <p:nvPr/>
        </p:nvSpPr>
        <p:spPr>
          <a:xfrm>
            <a:off x="2057400" y="914400"/>
            <a:ext cx="148132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Personale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2103120" y="1463040"/>
            <a:ext cx="1408176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ID</a:t>
            </a:r>
            <a:r>
              <a:rPr lang="en-US" sz="1000">
                <a:solidFill>
                  <a:srgbClr val="1B2A4A"/>
                </a:solidFill>
              </a:rPr>
              <a:t>_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staff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Ruolo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Stipendio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3749040" y="914400"/>
            <a:ext cx="1572768" cy="329184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3749040" y="914400"/>
            <a:ext cx="1572768" cy="457200"/>
          </a:xfrm>
          <a:prstGeom prst="roundRect">
            <a:avLst>
              <a:gd fmla="val 16000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3749040" y="1280160"/>
            <a:ext cx="1572768" cy="914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"/>
          <p:cNvSpPr/>
          <p:nvPr/>
        </p:nvSpPr>
        <p:spPr>
          <a:xfrm>
            <a:off x="3794760" y="914400"/>
            <a:ext cx="148132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Veicoli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3840480" y="1463040"/>
            <a:ext cx="1408176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Tipo</a:t>
            </a:r>
            <a:endParaRPr b="0" i="0" sz="1000" u="none" cap="none" strike="noStrike">
              <a:solidFill>
                <a:srgbClr val="1B2A4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M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arca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Modello</a:t>
            </a:r>
            <a:endParaRPr sz="1000">
              <a:solidFill>
                <a:srgbClr val="1B2A4A"/>
              </a:solidFill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T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arga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Prezzo_Giorno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Stato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5486400" y="914400"/>
            <a:ext cx="1572768" cy="329184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5486400" y="914400"/>
            <a:ext cx="1572768" cy="457200"/>
          </a:xfrm>
          <a:prstGeom prst="roundRect">
            <a:avLst>
              <a:gd fmla="val 16000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5486400" y="1280160"/>
            <a:ext cx="1572768" cy="914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5532120" y="914400"/>
            <a:ext cx="148132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Prenotazioni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5577840" y="1463040"/>
            <a:ext cx="1408176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Dat</a:t>
            </a:r>
            <a:r>
              <a:rPr lang="en-US" sz="1000">
                <a:solidFill>
                  <a:srgbClr val="1B2A4A"/>
                </a:solidFill>
              </a:rPr>
              <a:t>a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 inizio</a:t>
            </a:r>
            <a:endParaRPr sz="1000">
              <a:solidFill>
                <a:srgbClr val="1B2A4A"/>
              </a:solidFill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Data 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Costo previsto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Tipo ritiro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Cauzione</a:t>
            </a:r>
            <a:endParaRPr sz="1000">
              <a:solidFill>
                <a:srgbClr val="1B2A4A"/>
              </a:solidFill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B2A4A"/>
                </a:solidFill>
              </a:rPr>
              <a:t>S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tato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7223760" y="914400"/>
            <a:ext cx="1572768" cy="329184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7223760" y="914400"/>
            <a:ext cx="1572768" cy="457200"/>
          </a:xfrm>
          <a:prstGeom prst="roundRect">
            <a:avLst>
              <a:gd fmla="val 16000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7223760" y="1280160"/>
            <a:ext cx="1572768" cy="914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7269480" y="914400"/>
            <a:ext cx="148132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Contratti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7315200" y="1463040"/>
            <a:ext cx="1408176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Data stipula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Importo</a:t>
            </a:r>
            <a:endParaRPr sz="1000">
              <a:solidFill>
                <a:srgbClr val="1B2A4A"/>
              </a:solidFill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>
                <a:solidFill>
                  <a:srgbClr val="1B2A4A"/>
                </a:solidFill>
              </a:rPr>
              <a:t>S</a:t>
            </a: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aldo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Costo totale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Stato cauzione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Progettazione Concettuale – Modello E/R Iniziale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365750" y="862600"/>
            <a:ext cx="1077600" cy="4116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 cap="flat" cmpd="sng" w="136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975" lIns="97975" spcFirstLastPara="1" rIns="97975" wrap="square" tIns="979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365750" y="862600"/>
            <a:ext cx="1077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72"/>
              <a:buFont typeface="Arial"/>
              <a:buNone/>
            </a:pPr>
            <a:r>
              <a:rPr b="1" i="0" lang="en-US" sz="107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UTENTE</a:t>
            </a:r>
            <a:endParaRPr b="0" i="0" sz="107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8" name="Google Shape;118;p5"/>
          <p:cNvCxnSpPr>
            <a:stCxn id="117" idx="2"/>
          </p:cNvCxnSpPr>
          <p:nvPr/>
        </p:nvCxnSpPr>
        <p:spPr>
          <a:xfrm flipH="1">
            <a:off x="903950" y="1274200"/>
            <a:ext cx="600" cy="2574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5"/>
          <p:cNvCxnSpPr/>
          <p:nvPr/>
        </p:nvCxnSpPr>
        <p:spPr>
          <a:xfrm flipH="1" rot="10800000">
            <a:off x="204850" y="1495343"/>
            <a:ext cx="2267100" cy="303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" name="Google Shape;120;p5"/>
          <p:cNvSpPr/>
          <p:nvPr/>
        </p:nvSpPr>
        <p:spPr>
          <a:xfrm>
            <a:off x="475451" y="1313774"/>
            <a:ext cx="198000" cy="18960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475399" y="1313698"/>
            <a:ext cx="1830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T/D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182880" y="1664208"/>
            <a:ext cx="822960" cy="347472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182880" y="1664208"/>
            <a:ext cx="822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1115568" y="1664208"/>
            <a:ext cx="822960" cy="347472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1115568" y="166420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Staff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2048256" y="1664208"/>
            <a:ext cx="822960" cy="347472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"/>
          <p:cNvSpPr/>
          <p:nvPr/>
        </p:nvSpPr>
        <p:spPr>
          <a:xfrm>
            <a:off x="2048256" y="166420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8" name="Google Shape;128;p5"/>
          <p:cNvCxnSpPr/>
          <p:nvPr/>
        </p:nvCxnSpPr>
        <p:spPr>
          <a:xfrm>
            <a:off x="636775" y="1528550"/>
            <a:ext cx="3300" cy="1356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" name="Google Shape;129;p5"/>
          <p:cNvCxnSpPr/>
          <p:nvPr/>
        </p:nvCxnSpPr>
        <p:spPr>
          <a:xfrm>
            <a:off x="1526025" y="1508325"/>
            <a:ext cx="900" cy="1560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0" name="Google Shape;130;p5"/>
          <p:cNvCxnSpPr/>
          <p:nvPr/>
        </p:nvCxnSpPr>
        <p:spPr>
          <a:xfrm>
            <a:off x="2455625" y="1492350"/>
            <a:ext cx="4200" cy="1719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5"/>
          <p:cNvSpPr/>
          <p:nvPr/>
        </p:nvSpPr>
        <p:spPr>
          <a:xfrm>
            <a:off x="539490" y="2243760"/>
            <a:ext cx="1005900" cy="3840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539490" y="2243760"/>
            <a:ext cx="100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VEICOLO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3" name="Google Shape;133;p5"/>
          <p:cNvCxnSpPr/>
          <p:nvPr/>
        </p:nvCxnSpPr>
        <p:spPr>
          <a:xfrm>
            <a:off x="1081085" y="2627758"/>
            <a:ext cx="900" cy="4029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4" name="Google Shape;134;p5"/>
          <p:cNvCxnSpPr/>
          <p:nvPr/>
        </p:nvCxnSpPr>
        <p:spPr>
          <a:xfrm flipH="1" rot="10800000">
            <a:off x="488700" y="3035050"/>
            <a:ext cx="2656200" cy="690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5"/>
          <p:cNvSpPr/>
          <p:nvPr/>
        </p:nvSpPr>
        <p:spPr>
          <a:xfrm>
            <a:off x="794457" y="2764918"/>
            <a:ext cx="219600" cy="21960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799317" y="2764918"/>
            <a:ext cx="219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T/D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182880" y="3127248"/>
            <a:ext cx="713100" cy="347400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"/>
          <p:cNvSpPr/>
          <p:nvPr/>
        </p:nvSpPr>
        <p:spPr>
          <a:xfrm>
            <a:off x="182880" y="3127248"/>
            <a:ext cx="713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969264" y="3127248"/>
            <a:ext cx="713100" cy="347400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969264" y="3127248"/>
            <a:ext cx="713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Scooter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1755648" y="3127248"/>
            <a:ext cx="713100" cy="347400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1755648" y="3127248"/>
            <a:ext cx="713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Barca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2542032" y="3127248"/>
            <a:ext cx="713100" cy="347400"/>
          </a:xfrm>
          <a:prstGeom prst="roundRect">
            <a:avLst>
              <a:gd fmla="val 18421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5"/>
          <p:cNvSpPr/>
          <p:nvPr/>
        </p:nvSpPr>
        <p:spPr>
          <a:xfrm>
            <a:off x="2542032" y="3127248"/>
            <a:ext cx="713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Bici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5" name="Google Shape;145;p5"/>
          <p:cNvCxnSpPr/>
          <p:nvPr/>
        </p:nvCxnSpPr>
        <p:spPr>
          <a:xfrm>
            <a:off x="539496" y="3035808"/>
            <a:ext cx="0" cy="9144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" name="Google Shape;146;p5"/>
          <p:cNvCxnSpPr/>
          <p:nvPr/>
        </p:nvCxnSpPr>
        <p:spPr>
          <a:xfrm>
            <a:off x="1325880" y="3035808"/>
            <a:ext cx="0" cy="9144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" name="Google Shape;147;p5"/>
          <p:cNvCxnSpPr/>
          <p:nvPr/>
        </p:nvCxnSpPr>
        <p:spPr>
          <a:xfrm>
            <a:off x="2112264" y="3035808"/>
            <a:ext cx="0" cy="9144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8" name="Google Shape;148;p5"/>
          <p:cNvCxnSpPr/>
          <p:nvPr/>
        </p:nvCxnSpPr>
        <p:spPr>
          <a:xfrm>
            <a:off x="2898648" y="3035808"/>
            <a:ext cx="0" cy="9144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5"/>
          <p:cNvSpPr/>
          <p:nvPr/>
        </p:nvSpPr>
        <p:spPr>
          <a:xfrm>
            <a:off x="3566160" y="914400"/>
            <a:ext cx="1463040" cy="411480"/>
          </a:xfrm>
          <a:prstGeom prst="roundRect">
            <a:avLst>
              <a:gd fmla="val 1555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"/>
          <p:cNvSpPr/>
          <p:nvPr/>
        </p:nvSpPr>
        <p:spPr>
          <a:xfrm>
            <a:off x="3566160" y="9144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PRENOTAZIONE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5"/>
          <p:cNvCxnSpPr/>
          <p:nvPr/>
        </p:nvCxnSpPr>
        <p:spPr>
          <a:xfrm>
            <a:off x="4297680" y="1325880"/>
            <a:ext cx="0" cy="214884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5"/>
          <p:cNvSpPr/>
          <p:nvPr/>
        </p:nvSpPr>
        <p:spPr>
          <a:xfrm>
            <a:off x="3794760" y="1389888"/>
            <a:ext cx="1005840" cy="329184"/>
          </a:xfrm>
          <a:prstGeom prst="roundRect">
            <a:avLst>
              <a:gd fmla="val 13889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5"/>
          <p:cNvSpPr/>
          <p:nvPr/>
        </p:nvSpPr>
        <p:spPr>
          <a:xfrm>
            <a:off x="3794760" y="1389888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Effettua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5486400" y="1348740"/>
            <a:ext cx="1463040" cy="411480"/>
          </a:xfrm>
          <a:prstGeom prst="roundRect">
            <a:avLst>
              <a:gd fmla="val 1555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5486400" y="134874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↔ UTENTE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6" name="Google Shape;156;p5"/>
          <p:cNvCxnSpPr/>
          <p:nvPr/>
        </p:nvCxnSpPr>
        <p:spPr>
          <a:xfrm>
            <a:off x="4800600" y="1554480"/>
            <a:ext cx="685800" cy="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" name="Google Shape;157;p5"/>
          <p:cNvSpPr/>
          <p:nvPr/>
        </p:nvSpPr>
        <p:spPr>
          <a:xfrm>
            <a:off x="3794760" y="2029968"/>
            <a:ext cx="1005840" cy="329184"/>
          </a:xfrm>
          <a:prstGeom prst="roundRect">
            <a:avLst>
              <a:gd fmla="val 13889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5"/>
          <p:cNvSpPr/>
          <p:nvPr/>
        </p:nvSpPr>
        <p:spPr>
          <a:xfrm>
            <a:off x="3794760" y="2029968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Riguarda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486400" y="1988820"/>
            <a:ext cx="1463040" cy="411480"/>
          </a:xfrm>
          <a:prstGeom prst="roundRect">
            <a:avLst>
              <a:gd fmla="val 15556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5486400" y="198882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↔ VEICOLO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5"/>
          <p:cNvCxnSpPr/>
          <p:nvPr/>
        </p:nvCxnSpPr>
        <p:spPr>
          <a:xfrm>
            <a:off x="4800600" y="2194560"/>
            <a:ext cx="685800" cy="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5"/>
          <p:cNvSpPr/>
          <p:nvPr/>
        </p:nvSpPr>
        <p:spPr>
          <a:xfrm>
            <a:off x="3794760" y="2670048"/>
            <a:ext cx="1005840" cy="329184"/>
          </a:xfrm>
          <a:prstGeom prst="roundRect">
            <a:avLst>
              <a:gd fmla="val 13889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3794760" y="2670048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Genera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3566160" y="3474720"/>
            <a:ext cx="1463040" cy="411480"/>
          </a:xfrm>
          <a:prstGeom prst="roundRect">
            <a:avLst>
              <a:gd fmla="val 1555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3566160" y="347472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CONTRATTO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5247410" y="3515865"/>
            <a:ext cx="1005900" cy="329100"/>
          </a:xfrm>
          <a:prstGeom prst="roundRect">
            <a:avLst>
              <a:gd fmla="val 13889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5"/>
          <p:cNvSpPr/>
          <p:nvPr/>
        </p:nvSpPr>
        <p:spPr>
          <a:xfrm>
            <a:off x="5247410" y="3515865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Gestisce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6390410" y="3515865"/>
            <a:ext cx="1463100" cy="329100"/>
          </a:xfrm>
          <a:prstGeom prst="roundRect">
            <a:avLst>
              <a:gd fmla="val 19444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6390410" y="3515865"/>
            <a:ext cx="1463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STAFF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0" name="Google Shape;170;p5"/>
          <p:cNvCxnSpPr/>
          <p:nvPr/>
        </p:nvCxnSpPr>
        <p:spPr>
          <a:xfrm>
            <a:off x="5064530" y="3680457"/>
            <a:ext cx="183000" cy="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5"/>
          <p:cNvCxnSpPr/>
          <p:nvPr/>
        </p:nvCxnSpPr>
        <p:spPr>
          <a:xfrm>
            <a:off x="6253250" y="3680457"/>
            <a:ext cx="137100" cy="0"/>
          </a:xfrm>
          <a:prstGeom prst="straightConnector1">
            <a:avLst/>
          </a:prstGeom>
          <a:noFill/>
          <a:ln cap="flat" cmpd="sng" w="152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3.1 Generalizzazione dell'entità Utente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320040" y="960120"/>
            <a:ext cx="3200400" cy="338328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320040" y="960120"/>
            <a:ext cx="3200400" cy="59436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"/>
          <p:cNvSpPr/>
          <p:nvPr/>
        </p:nvSpPr>
        <p:spPr>
          <a:xfrm>
            <a:off x="411480" y="960120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Strategia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Tutto nelle Figlie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57200" y="1645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✔ 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457200" y="196596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Elevata specializzazione;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Modello molto espressivo.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457200" y="269748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✗ Svantaggi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457200" y="301752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Aumento tabelle;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Query più complesse.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3794760" y="960120"/>
            <a:ext cx="3200400" cy="338328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6"/>
          <p:cNvSpPr/>
          <p:nvPr/>
        </p:nvSpPr>
        <p:spPr>
          <a:xfrm>
            <a:off x="3794760" y="960120"/>
            <a:ext cx="3200400" cy="59436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6"/>
          <p:cNvSpPr/>
          <p:nvPr/>
        </p:nvSpPr>
        <p:spPr>
          <a:xfrm>
            <a:off x="3886200" y="960120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Strategia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Tutto nel Padre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3931920" y="1645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✔ 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3931920" y="196596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Semplicità;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Riduzione delle JOIN.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931920" y="269748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✗ Svantaggi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3931920" y="301752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Minore rappresentazione semantica.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7223760" y="960120"/>
            <a:ext cx="1691640" cy="3383280"/>
          </a:xfrm>
          <a:prstGeom prst="roundRect">
            <a:avLst>
              <a:gd fmla="val 5405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7269480" y="100584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✓ Scelta Adottata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7269480" y="1600200"/>
            <a:ext cx="1600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Soluzione intermedia: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• Cliente e Admin → accorpati in UTENTE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• Staff → mantenuto separato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Motivo: ruolo e stipendio sono attributi specifici dello Staff.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3.2 Generalizzazione dell'entità Veicolo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320040" y="960120"/>
            <a:ext cx="3200400" cy="338328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320040" y="960120"/>
            <a:ext cx="3200400" cy="59436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411480" y="960120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Strategia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Tutto nelle Figlie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457200" y="1645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✔ 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457200" y="196596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Specializzazione elevata.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2788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✗ Svantaggi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457200" y="310896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Schema complesso e articolato</a:t>
            </a:r>
            <a:r>
              <a:rPr lang="en-US" sz="105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br>
              <a:rPr lang="en-US" sz="105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Numero maggiore di query da svolgere.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3794760" y="960120"/>
            <a:ext cx="3200400" cy="338328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3794760" y="960120"/>
            <a:ext cx="3200400" cy="59436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7"/>
          <p:cNvSpPr/>
          <p:nvPr/>
        </p:nvSpPr>
        <p:spPr>
          <a:xfrm>
            <a:off x="3886200" y="960120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Strategia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Collasso nel Padre 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3931920" y="1645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✔ 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3931920" y="196596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DB semplificato;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Query più efficienti;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Gestione unificata.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3931920" y="2788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✗ Svantaggi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3931920" y="310896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Presenza di attributi opzionali.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7223760" y="960120"/>
            <a:ext cx="1691640" cy="3383280"/>
          </a:xfrm>
          <a:prstGeom prst="roundRect">
            <a:avLst>
              <a:gd fmla="val 5405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7"/>
          <p:cNvSpPr/>
          <p:nvPr/>
        </p:nvSpPr>
        <p:spPr>
          <a:xfrm>
            <a:off x="7269480" y="100584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Benefici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Ottenuti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7269480" y="1600200"/>
            <a:ext cx="1600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Auto, Scooter, Barca e Bici collassate in VEICOLO.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L'attributo tipo identifica la categoria.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Attributi comuni (marca, modello, colore, targa) centralizzati.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 Modello E/R Finale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20040" y="1417320"/>
            <a:ext cx="1554480" cy="502920"/>
          </a:xfrm>
          <a:prstGeom prst="roundRect">
            <a:avLst>
              <a:gd fmla="val 12727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8"/>
          <p:cNvSpPr/>
          <p:nvPr/>
        </p:nvSpPr>
        <p:spPr>
          <a:xfrm>
            <a:off x="320040" y="141732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UTENTE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2103120" y="1485900"/>
            <a:ext cx="1005840" cy="365760"/>
          </a:xfrm>
          <a:prstGeom prst="roundRect">
            <a:avLst>
              <a:gd fmla="val 15000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2103120" y="1485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Effettua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37560" y="1417320"/>
            <a:ext cx="1828800" cy="502920"/>
          </a:xfrm>
          <a:prstGeom prst="roundRect">
            <a:avLst>
              <a:gd fmla="val 12727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8"/>
          <p:cNvSpPr/>
          <p:nvPr/>
        </p:nvSpPr>
        <p:spPr>
          <a:xfrm>
            <a:off x="3337560" y="14173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PRENOTAZIONE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5394960" y="1485900"/>
            <a:ext cx="1005840" cy="365760"/>
          </a:xfrm>
          <a:prstGeom prst="roundRect">
            <a:avLst>
              <a:gd fmla="val 15000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5394960" y="1485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Riguarda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6629400" y="1417320"/>
            <a:ext cx="1554480" cy="502920"/>
          </a:xfrm>
          <a:prstGeom prst="roundRect">
            <a:avLst>
              <a:gd fmla="val 12727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"/>
          <p:cNvSpPr/>
          <p:nvPr/>
        </p:nvSpPr>
        <p:spPr>
          <a:xfrm>
            <a:off x="6629400" y="141732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VEICOLO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7" name="Google Shape;237;p8"/>
          <p:cNvCxnSpPr/>
          <p:nvPr/>
        </p:nvCxnSpPr>
        <p:spPr>
          <a:xfrm>
            <a:off x="1874520" y="1668780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8" name="Google Shape;238;p8"/>
          <p:cNvSpPr/>
          <p:nvPr/>
        </p:nvSpPr>
        <p:spPr>
          <a:xfrm>
            <a:off x="1810500" y="1463273"/>
            <a:ext cx="2925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9" name="Google Shape;239;p8"/>
          <p:cNvCxnSpPr/>
          <p:nvPr/>
        </p:nvCxnSpPr>
        <p:spPr>
          <a:xfrm>
            <a:off x="3108960" y="1668780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0" name="Google Shape;240;p8"/>
          <p:cNvSpPr/>
          <p:nvPr/>
        </p:nvSpPr>
        <p:spPr>
          <a:xfrm>
            <a:off x="3017520" y="1463264"/>
            <a:ext cx="292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1" name="Google Shape;241;p8"/>
          <p:cNvCxnSpPr/>
          <p:nvPr/>
        </p:nvCxnSpPr>
        <p:spPr>
          <a:xfrm>
            <a:off x="5166360" y="1668780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" name="Google Shape;242;p8"/>
          <p:cNvSpPr/>
          <p:nvPr/>
        </p:nvSpPr>
        <p:spPr>
          <a:xfrm>
            <a:off x="5102445" y="1463277"/>
            <a:ext cx="292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3" name="Google Shape;243;p8"/>
          <p:cNvCxnSpPr/>
          <p:nvPr/>
        </p:nvCxnSpPr>
        <p:spPr>
          <a:xfrm>
            <a:off x="6400800" y="1668780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4" name="Google Shape;244;p8"/>
          <p:cNvSpPr/>
          <p:nvPr/>
        </p:nvSpPr>
        <p:spPr>
          <a:xfrm>
            <a:off x="6309360" y="1438002"/>
            <a:ext cx="292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320040" y="2926080"/>
            <a:ext cx="1554480" cy="502920"/>
          </a:xfrm>
          <a:prstGeom prst="roundRect">
            <a:avLst>
              <a:gd fmla="val 12727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320040" y="29260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STAFF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2103120" y="2994660"/>
            <a:ext cx="1005840" cy="365760"/>
          </a:xfrm>
          <a:prstGeom prst="roundRect">
            <a:avLst>
              <a:gd fmla="val 15000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2103120" y="29946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Gestisce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3337560" y="2926080"/>
            <a:ext cx="1828800" cy="502920"/>
          </a:xfrm>
          <a:prstGeom prst="roundRect">
            <a:avLst>
              <a:gd fmla="val 12727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3337560" y="292608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CONTRATTO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1" name="Google Shape;251;p8"/>
          <p:cNvCxnSpPr/>
          <p:nvPr/>
        </p:nvCxnSpPr>
        <p:spPr>
          <a:xfrm>
            <a:off x="1874520" y="3177540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" name="Google Shape;252;p8"/>
          <p:cNvSpPr/>
          <p:nvPr/>
        </p:nvSpPr>
        <p:spPr>
          <a:xfrm>
            <a:off x="1810505" y="2969574"/>
            <a:ext cx="292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3" name="Google Shape;253;p8"/>
          <p:cNvCxnSpPr/>
          <p:nvPr/>
        </p:nvCxnSpPr>
        <p:spPr>
          <a:xfrm>
            <a:off x="3108960" y="3177540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4" name="Google Shape;254;p8"/>
          <p:cNvSpPr/>
          <p:nvPr/>
        </p:nvSpPr>
        <p:spPr>
          <a:xfrm>
            <a:off x="2996745" y="2969512"/>
            <a:ext cx="292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3749040" y="2240280"/>
            <a:ext cx="1005840" cy="365760"/>
          </a:xfrm>
          <a:prstGeom prst="roundRect">
            <a:avLst>
              <a:gd fmla="val 15000" name="adj"/>
            </a:avLst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3749040" y="22402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Genera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7" name="Google Shape;257;p8"/>
          <p:cNvCxnSpPr/>
          <p:nvPr/>
        </p:nvCxnSpPr>
        <p:spPr>
          <a:xfrm>
            <a:off x="4251960" y="1920240"/>
            <a:ext cx="0" cy="32004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8" name="Google Shape;258;p8"/>
          <p:cNvSpPr/>
          <p:nvPr/>
        </p:nvSpPr>
        <p:spPr>
          <a:xfrm>
            <a:off x="4297680" y="1938528"/>
            <a:ext cx="29260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9" name="Google Shape;259;p8"/>
          <p:cNvCxnSpPr/>
          <p:nvPr/>
        </p:nvCxnSpPr>
        <p:spPr>
          <a:xfrm>
            <a:off x="4251960" y="2606040"/>
            <a:ext cx="0" cy="320040"/>
          </a:xfrm>
          <a:prstGeom prst="straightConnector1">
            <a:avLst/>
          </a:prstGeom>
          <a:noFill/>
          <a:ln cap="flat" cmpd="sng" w="1777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0" name="Google Shape;260;p8"/>
          <p:cNvSpPr/>
          <p:nvPr/>
        </p:nvSpPr>
        <p:spPr>
          <a:xfrm>
            <a:off x="4297680" y="2670048"/>
            <a:ext cx="29260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320040" y="4526280"/>
            <a:ext cx="8503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5 entità · 4 relazioni · Generalizzazioni risolte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9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5. Progettazione Logica – Schema Relazionale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274320" y="914400"/>
            <a:ext cx="4206240" cy="1188720"/>
          </a:xfrm>
          <a:prstGeom prst="roundRect">
            <a:avLst>
              <a:gd fmla="val 6154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9"/>
          <p:cNvSpPr/>
          <p:nvPr/>
        </p:nvSpPr>
        <p:spPr>
          <a:xfrm>
            <a:off x="274320" y="914400"/>
            <a:ext cx="4206240" cy="347472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9"/>
          <p:cNvSpPr/>
          <p:nvPr/>
        </p:nvSpPr>
        <p:spPr>
          <a:xfrm>
            <a:off x="347472" y="914400"/>
            <a:ext cx="4069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UTENTE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365760" y="129844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PK: id_utente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365760" y="1554480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nome_utente(U), password, mail(U), cognome, telefono, tipo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4754880" y="914400"/>
            <a:ext cx="4206240" cy="1188720"/>
          </a:xfrm>
          <a:prstGeom prst="roundRect">
            <a:avLst>
              <a:gd fmla="val 6154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9"/>
          <p:cNvSpPr/>
          <p:nvPr/>
        </p:nvSpPr>
        <p:spPr>
          <a:xfrm>
            <a:off x="4754880" y="914400"/>
            <a:ext cx="4206240" cy="347472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9"/>
          <p:cNvSpPr/>
          <p:nvPr/>
        </p:nvSpPr>
        <p:spPr>
          <a:xfrm>
            <a:off x="4828032" y="914400"/>
            <a:ext cx="4069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STAFF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4846320" y="129844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PK: id_staff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4846320" y="1554480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ruolo, stipendio &gt; 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274320" y="2240280"/>
            <a:ext cx="4206240" cy="1188720"/>
          </a:xfrm>
          <a:prstGeom prst="roundRect">
            <a:avLst>
              <a:gd fmla="val 6154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9"/>
          <p:cNvSpPr/>
          <p:nvPr/>
        </p:nvSpPr>
        <p:spPr>
          <a:xfrm>
            <a:off x="274320" y="2240280"/>
            <a:ext cx="4206240" cy="347472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9"/>
          <p:cNvSpPr/>
          <p:nvPr/>
        </p:nvSpPr>
        <p:spPr>
          <a:xfrm>
            <a:off x="347472" y="2240280"/>
            <a:ext cx="4069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VEICOLO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365760" y="262432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PK: id_veicolo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365760" y="2880360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marca, modello, colore, targa(U), cambio, cabrio, cilindrata, batteria, lunghezza, tipo, stato, prezzo_giorno &gt; 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4754880" y="2240280"/>
            <a:ext cx="4206240" cy="1188720"/>
          </a:xfrm>
          <a:prstGeom prst="roundRect">
            <a:avLst>
              <a:gd fmla="val 6154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4754880" y="2240280"/>
            <a:ext cx="4206240" cy="347472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9"/>
          <p:cNvSpPr/>
          <p:nvPr/>
        </p:nvSpPr>
        <p:spPr>
          <a:xfrm>
            <a:off x="4828032" y="2240280"/>
            <a:ext cx="4069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PRENOTAZIONE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4846320" y="262432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PK: id_prenotazione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4846320" y="2880360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data_inizio, data_fine, stato, costo_previsto, cauzione_richiesta, tipo_ritiro, indirizzo_ritiro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 FK→Utente, FK→Veicolo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/>
          <p:nvPr/>
        </p:nvSpPr>
        <p:spPr>
          <a:xfrm>
            <a:off x="2468880" y="3566160"/>
            <a:ext cx="4206240" cy="1188720"/>
          </a:xfrm>
          <a:prstGeom prst="roundRect">
            <a:avLst>
              <a:gd fmla="val 6154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9"/>
          <p:cNvSpPr/>
          <p:nvPr/>
        </p:nvSpPr>
        <p:spPr>
          <a:xfrm>
            <a:off x="2468880" y="3566160"/>
            <a:ext cx="4206240" cy="347472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9"/>
          <p:cNvSpPr/>
          <p:nvPr/>
        </p:nvSpPr>
        <p:spPr>
          <a:xfrm>
            <a:off x="2542032" y="3566160"/>
            <a:ext cx="4069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CONTRATTO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2560320" y="395020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PK: id_contratto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2560320" y="4206240"/>
            <a:ext cx="4023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data_stipula, importo, costo_totale, saldo_importo, saldo_stato, cauzione_stato, data_pagamento_cauzione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 FK→Prenotazione, FK→Staff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6. Vincoli Interrelazionali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274320" y="9601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384048" y="10332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Utente → Prenotazione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384048" y="13441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384048" y="13441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: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384048" y="16459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Un utente può effettuare più prenotazioni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/>
          <p:nvPr/>
        </p:nvSpPr>
        <p:spPr>
          <a:xfrm>
            <a:off x="3246120" y="9601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"/>
          <p:cNvSpPr/>
          <p:nvPr/>
        </p:nvSpPr>
        <p:spPr>
          <a:xfrm>
            <a:off x="3355848" y="10332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Prenotazione → Utente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3355848" y="13441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0D737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0"/>
          <p:cNvSpPr/>
          <p:nvPr/>
        </p:nvSpPr>
        <p:spPr>
          <a:xfrm>
            <a:off x="3355848" y="13441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 :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0"/>
          <p:cNvSpPr/>
          <p:nvPr/>
        </p:nvSpPr>
        <p:spPr>
          <a:xfrm>
            <a:off x="3355848" y="16459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Ogni prenotazione appartiene ad un solo utente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0"/>
          <p:cNvSpPr/>
          <p:nvPr/>
        </p:nvSpPr>
        <p:spPr>
          <a:xfrm>
            <a:off x="6217920" y="9601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0"/>
          <p:cNvSpPr/>
          <p:nvPr/>
        </p:nvSpPr>
        <p:spPr>
          <a:xfrm>
            <a:off x="6327648" y="10332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Prenotazione → Veicolo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0"/>
          <p:cNvSpPr/>
          <p:nvPr/>
        </p:nvSpPr>
        <p:spPr>
          <a:xfrm>
            <a:off x="6327648" y="13441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0"/>
          <p:cNvSpPr/>
          <p:nvPr/>
        </p:nvSpPr>
        <p:spPr>
          <a:xfrm>
            <a:off x="6327648" y="13441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 :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0"/>
          <p:cNvSpPr/>
          <p:nvPr/>
        </p:nvSpPr>
        <p:spPr>
          <a:xfrm>
            <a:off x="6327648" y="16459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Una prenotazione riguarda un solo veicolo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0"/>
          <p:cNvSpPr/>
          <p:nvPr/>
        </p:nvSpPr>
        <p:spPr>
          <a:xfrm>
            <a:off x="274320" y="23317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0"/>
          <p:cNvSpPr/>
          <p:nvPr/>
        </p:nvSpPr>
        <p:spPr>
          <a:xfrm>
            <a:off x="384048" y="24048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Veicolo → Prenotazione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384048" y="27157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0D737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0"/>
          <p:cNvSpPr/>
          <p:nvPr/>
        </p:nvSpPr>
        <p:spPr>
          <a:xfrm>
            <a:off x="384048" y="27157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: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0"/>
          <p:cNvSpPr/>
          <p:nvPr/>
        </p:nvSpPr>
        <p:spPr>
          <a:xfrm>
            <a:off x="384048" y="30175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Un veicolo può essere associato a più prenotazioni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3246120" y="23317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"/>
          <p:cNvSpPr/>
          <p:nvPr/>
        </p:nvSpPr>
        <p:spPr>
          <a:xfrm>
            <a:off x="3355848" y="24048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Prenotazione → Contratto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3355848" y="27157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0"/>
          <p:cNvSpPr/>
          <p:nvPr/>
        </p:nvSpPr>
        <p:spPr>
          <a:xfrm>
            <a:off x="3355848" y="27157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: 0..1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0"/>
          <p:cNvSpPr/>
          <p:nvPr/>
        </p:nvSpPr>
        <p:spPr>
          <a:xfrm>
            <a:off x="3355848" y="30175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Una prenotazione genera al massimo un contratto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0"/>
          <p:cNvSpPr/>
          <p:nvPr/>
        </p:nvSpPr>
        <p:spPr>
          <a:xfrm>
            <a:off x="6217920" y="23317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0"/>
          <p:cNvSpPr/>
          <p:nvPr/>
        </p:nvSpPr>
        <p:spPr>
          <a:xfrm>
            <a:off x="6327648" y="24048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Contratto → Prenotazione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0"/>
          <p:cNvSpPr/>
          <p:nvPr/>
        </p:nvSpPr>
        <p:spPr>
          <a:xfrm>
            <a:off x="6327648" y="27157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0D737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0"/>
          <p:cNvSpPr/>
          <p:nvPr/>
        </p:nvSpPr>
        <p:spPr>
          <a:xfrm>
            <a:off x="6327648" y="27157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 :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6327648" y="30175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Ogni contratto deriva da una sola prenotazione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/>
          <p:nvPr/>
        </p:nvSpPr>
        <p:spPr>
          <a:xfrm>
            <a:off x="274320" y="37033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0"/>
          <p:cNvSpPr/>
          <p:nvPr/>
        </p:nvSpPr>
        <p:spPr>
          <a:xfrm>
            <a:off x="384048" y="37764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Staff → Contratto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0"/>
          <p:cNvSpPr/>
          <p:nvPr/>
        </p:nvSpPr>
        <p:spPr>
          <a:xfrm>
            <a:off x="384048" y="40873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0"/>
          <p:cNvSpPr/>
          <p:nvPr/>
        </p:nvSpPr>
        <p:spPr>
          <a:xfrm>
            <a:off x="384048" y="40873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: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384048" y="43891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Un membro dello staff può gestire più contratti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3246120" y="37033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0"/>
          <p:cNvSpPr/>
          <p:nvPr/>
        </p:nvSpPr>
        <p:spPr>
          <a:xfrm>
            <a:off x="3355848" y="37764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Contratto → Staff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/>
          <p:nvPr/>
        </p:nvSpPr>
        <p:spPr>
          <a:xfrm>
            <a:off x="3355848" y="40873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0D737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0"/>
          <p:cNvSpPr/>
          <p:nvPr/>
        </p:nvSpPr>
        <p:spPr>
          <a:xfrm>
            <a:off x="3355848" y="40873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 :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/>
          <p:nvPr/>
        </p:nvSpPr>
        <p:spPr>
          <a:xfrm>
            <a:off x="3355848" y="43891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Ogni contratto è gestito da un solo membro dello staff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/>
          <p:nvPr/>
        </p:nvSpPr>
        <p:spPr>
          <a:xfrm>
            <a:off x="6217920" y="3703320"/>
            <a:ext cx="2788920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0"/>
          <p:cNvSpPr/>
          <p:nvPr/>
        </p:nvSpPr>
        <p:spPr>
          <a:xfrm>
            <a:off x="6327648" y="37764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Contratto → Veicolo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/>
          <p:nvPr/>
        </p:nvSpPr>
        <p:spPr>
          <a:xfrm>
            <a:off x="6327648" y="4087368"/>
            <a:ext cx="685800" cy="256032"/>
          </a:xfrm>
          <a:prstGeom prst="roundRect">
            <a:avLst>
              <a:gd fmla="val 14286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0"/>
          <p:cNvSpPr/>
          <p:nvPr/>
        </p:nvSpPr>
        <p:spPr>
          <a:xfrm>
            <a:off x="6327648" y="408736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vincolo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6327648" y="438912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Un contratto deve riferirsi ad un veicolo esistente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7. Implementazione del Sistema – Django MVT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320040" y="960120"/>
            <a:ext cx="2651760" cy="35661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1"/>
          <p:cNvSpPr/>
          <p:nvPr/>
        </p:nvSpPr>
        <p:spPr>
          <a:xfrm>
            <a:off x="320040" y="960120"/>
            <a:ext cx="2651760" cy="914400"/>
          </a:xfrm>
          <a:prstGeom prst="roundRect">
            <a:avLst>
              <a:gd fmla="val 6000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1"/>
          <p:cNvSpPr/>
          <p:nvPr/>
        </p:nvSpPr>
        <p:spPr>
          <a:xfrm>
            <a:off x="411480" y="960120"/>
            <a:ext cx="2468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MODEL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(Dati &amp; DB)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457200" y="1965960"/>
            <a:ext cx="23774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Entità ORM: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Utente, Staff,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Veicolo, Prenotazione,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Contratto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1"/>
          <p:cNvSpPr/>
          <p:nvPr/>
        </p:nvSpPr>
        <p:spPr>
          <a:xfrm>
            <a:off x="3200400" y="960120"/>
            <a:ext cx="2651760" cy="35661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1"/>
          <p:cNvSpPr/>
          <p:nvPr/>
        </p:nvSpPr>
        <p:spPr>
          <a:xfrm>
            <a:off x="3200400" y="960120"/>
            <a:ext cx="2651760" cy="914400"/>
          </a:xfrm>
          <a:prstGeom prst="roundRect">
            <a:avLst>
              <a:gd fmla="val 6000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3291840" y="960120"/>
            <a:ext cx="2468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VIEW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(Logica)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3337560" y="1965960"/>
            <a:ext cx="23774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Autenticazione,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Gestione prenotazioni,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Contratti, Staff,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Monitoraggio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/>
          <p:nvPr/>
        </p:nvSpPr>
        <p:spPr>
          <a:xfrm>
            <a:off x="6080760" y="960120"/>
            <a:ext cx="2651760" cy="35661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1"/>
          <p:cNvSpPr/>
          <p:nvPr/>
        </p:nvSpPr>
        <p:spPr>
          <a:xfrm>
            <a:off x="6080760" y="960120"/>
            <a:ext cx="2651760" cy="914400"/>
          </a:xfrm>
          <a:prstGeom prst="roundRect">
            <a:avLst>
              <a:gd fmla="val 6000" name="adj"/>
            </a:avLst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1"/>
          <p:cNvSpPr/>
          <p:nvPr/>
        </p:nvSpPr>
        <p:spPr>
          <a:xfrm>
            <a:off x="6172200" y="960120"/>
            <a:ext cx="2468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TEMPLATE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(UI)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6217920" y="1965960"/>
            <a:ext cx="23774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Login, Catalogo,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Dashboard admin,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Gestione veicoli,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Contratti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5" name="Google Shape;365;p11"/>
          <p:cNvCxnSpPr/>
          <p:nvPr/>
        </p:nvCxnSpPr>
        <p:spPr>
          <a:xfrm flipH="1" rot="10800000">
            <a:off x="2971800" y="2331120"/>
            <a:ext cx="249000" cy="600"/>
          </a:xfrm>
          <a:prstGeom prst="straightConnector1">
            <a:avLst/>
          </a:prstGeom>
          <a:noFill/>
          <a:ln cap="flat" cmpd="sng" w="317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6" name="Google Shape;366;p11"/>
          <p:cNvCxnSpPr/>
          <p:nvPr/>
        </p:nvCxnSpPr>
        <p:spPr>
          <a:xfrm>
            <a:off x="5852160" y="2331720"/>
            <a:ext cx="252300" cy="0"/>
          </a:xfrm>
          <a:prstGeom prst="straightConnector1">
            <a:avLst/>
          </a:prstGeom>
          <a:noFill/>
          <a:ln cap="flat" cmpd="sng" w="317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2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2"/>
          <p:cNvSpPr/>
          <p:nvPr/>
        </p:nvSpPr>
        <p:spPr>
          <a:xfrm>
            <a:off x="274320" y="960120"/>
            <a:ext cx="2788800" cy="1691700"/>
          </a:xfrm>
          <a:prstGeom prst="roundRect">
            <a:avLst>
              <a:gd fmla="val 540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2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7. Schermate dell'Applicazione Web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274320" y="960120"/>
            <a:ext cx="2788920" cy="36576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347472" y="96012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/>
          <p:nvPr/>
        </p:nvSpPr>
        <p:spPr>
          <a:xfrm>
            <a:off x="384050" y="1407400"/>
            <a:ext cx="791700" cy="115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Accesso con username e password. Possibilità di registrare un nuovo account.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3246120" y="960120"/>
            <a:ext cx="2788920" cy="1691640"/>
          </a:xfrm>
          <a:prstGeom prst="roundRect">
            <a:avLst>
              <a:gd fmla="val 540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2"/>
          <p:cNvSpPr/>
          <p:nvPr/>
        </p:nvSpPr>
        <p:spPr>
          <a:xfrm>
            <a:off x="3246120" y="960120"/>
            <a:ext cx="2788920" cy="36576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2"/>
          <p:cNvSpPr/>
          <p:nvPr/>
        </p:nvSpPr>
        <p:spPr>
          <a:xfrm>
            <a:off x="3319272" y="96012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Catalogo Veicoli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/>
          <p:nvPr/>
        </p:nvSpPr>
        <p:spPr>
          <a:xfrm>
            <a:off x="3309626" y="1459175"/>
            <a:ext cx="869100" cy="1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Visualizzazione completa dei mezzi con filtri per marca, tipo e disponibilità.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6217920" y="960120"/>
            <a:ext cx="2788920" cy="1691640"/>
          </a:xfrm>
          <a:prstGeom prst="roundRect">
            <a:avLst>
              <a:gd fmla="val 540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2"/>
          <p:cNvSpPr/>
          <p:nvPr/>
        </p:nvSpPr>
        <p:spPr>
          <a:xfrm>
            <a:off x="6217920" y="960120"/>
            <a:ext cx="2788920" cy="36576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2"/>
          <p:cNvSpPr/>
          <p:nvPr/>
        </p:nvSpPr>
        <p:spPr>
          <a:xfrm>
            <a:off x="6291072" y="96012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 Admin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6327649" y="1371600"/>
            <a:ext cx="7764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Pannello di controllo: veicoli, clienti, prenotazioni e pagamenti.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1645920" y="2926080"/>
            <a:ext cx="2788920" cy="1691640"/>
          </a:xfrm>
          <a:prstGeom prst="roundRect">
            <a:avLst>
              <a:gd fmla="val 540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1645920" y="2926080"/>
            <a:ext cx="2788920" cy="36576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2"/>
          <p:cNvSpPr/>
          <p:nvPr/>
        </p:nvSpPr>
        <p:spPr>
          <a:xfrm>
            <a:off x="1719072" y="292608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Gestione Veicoli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2"/>
          <p:cNvSpPr/>
          <p:nvPr/>
        </p:nvSpPr>
        <p:spPr>
          <a:xfrm>
            <a:off x="1569875" y="3429250"/>
            <a:ext cx="1013100" cy="115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Inserimento e aggiornamento dei veicoli. Rispecchia l'entità Veicolo del modello logico.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2"/>
          <p:cNvSpPr/>
          <p:nvPr/>
        </p:nvSpPr>
        <p:spPr>
          <a:xfrm>
            <a:off x="4754880" y="2926080"/>
            <a:ext cx="2788920" cy="1691640"/>
          </a:xfrm>
          <a:prstGeom prst="roundRect">
            <a:avLst>
              <a:gd fmla="val 540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2"/>
          <p:cNvSpPr/>
          <p:nvPr/>
        </p:nvSpPr>
        <p:spPr>
          <a:xfrm>
            <a:off x="4754880" y="2926080"/>
            <a:ext cx="2788920" cy="36576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2"/>
          <p:cNvSpPr/>
          <p:nvPr/>
        </p:nvSpPr>
        <p:spPr>
          <a:xfrm>
            <a:off x="4828032" y="292608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Gestione Contratti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3" name="Google Shape;393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9400" y="1340050"/>
            <a:ext cx="1843725" cy="131177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60"/>
              </a:srgbClr>
            </a:outerShdw>
          </a:effectLst>
        </p:spPr>
      </p:pic>
      <p:sp>
        <p:nvSpPr>
          <p:cNvPr id="394" name="Google Shape;394;p12"/>
          <p:cNvSpPr/>
          <p:nvPr/>
        </p:nvSpPr>
        <p:spPr>
          <a:xfrm>
            <a:off x="4691488" y="3306075"/>
            <a:ext cx="9672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Formalizzazione prenotazioni con dati economici, cauzione e storico operazioni.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5" name="Google Shape;395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32500" y="1340050"/>
            <a:ext cx="1685174" cy="131177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60"/>
              </a:srgbClr>
            </a:outerShdw>
          </a:effectLst>
        </p:spPr>
      </p:pic>
      <p:pic>
        <p:nvPicPr>
          <p:cNvPr id="396" name="Google Shape;396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38100" y="1340050"/>
            <a:ext cx="1933000" cy="131177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60"/>
              </a:srgbClr>
            </a:outerShdw>
          </a:effectLst>
        </p:spPr>
      </p:pic>
      <p:pic>
        <p:nvPicPr>
          <p:cNvPr id="397" name="Google Shape;397;p1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22625" y="3321675"/>
            <a:ext cx="2012225" cy="128195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60"/>
              </a:srgbClr>
            </a:outerShdw>
          </a:effectLst>
        </p:spPr>
      </p:pic>
      <p:pic>
        <p:nvPicPr>
          <p:cNvPr id="398" name="Google Shape;398;p1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00075" y="3306066"/>
            <a:ext cx="1843726" cy="123771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6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3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8. Sicurezza del Sistema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365760" y="1005840"/>
            <a:ext cx="2697480" cy="3474720"/>
          </a:xfrm>
          <a:prstGeom prst="roundRect">
            <a:avLst>
              <a:gd fmla="val 339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1280160" y="1188720"/>
            <a:ext cx="868680" cy="86868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1280160" y="1188720"/>
            <a:ext cx="8686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502920" y="2194560"/>
            <a:ext cx="2423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Autenticazione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/>
          <p:nvPr/>
        </p:nvSpPr>
        <p:spPr>
          <a:xfrm>
            <a:off x="530352" y="2670048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Gli utenti accedono mediante username e password verificate dal sistema.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/>
          <p:nvPr/>
        </p:nvSpPr>
        <p:spPr>
          <a:xfrm>
            <a:off x="3291840" y="1005840"/>
            <a:ext cx="2697480" cy="3474720"/>
          </a:xfrm>
          <a:prstGeom prst="roundRect">
            <a:avLst>
              <a:gd fmla="val 339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4206240" y="1188720"/>
            <a:ext cx="868680" cy="86868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4206240" y="1188720"/>
            <a:ext cx="8686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🔑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3429000" y="2194560"/>
            <a:ext cx="2423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Gestione Sessioni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/>
          <p:nvPr/>
        </p:nvSpPr>
        <p:spPr>
          <a:xfrm>
            <a:off x="3456432" y="2670048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Le sessioni mantengono lo stato di autenticazione tra le pagine dell'applicazione.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6217920" y="1005840"/>
            <a:ext cx="2697480" cy="3474720"/>
          </a:xfrm>
          <a:prstGeom prst="roundRect">
            <a:avLst>
              <a:gd fmla="val 339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7132320" y="1188720"/>
            <a:ext cx="868680" cy="86868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7132320" y="1188720"/>
            <a:ext cx="8686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🛡️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6355080" y="2194560"/>
            <a:ext cx="2423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mbria"/>
                <a:ea typeface="Cambria"/>
                <a:cs typeface="Cambria"/>
                <a:sym typeface="Cambria"/>
              </a:rPr>
              <a:t>Integrità dei Dati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3"/>
          <p:cNvSpPr/>
          <p:nvPr/>
        </p:nvSpPr>
        <p:spPr>
          <a:xfrm>
            <a:off x="6382512" y="2670048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 vincoli definiti nel modello logico garantiscono la coerenza delle informazioni memorizzate.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0D7377">
              <a:alpha val="18039"/>
            </a:srgbClr>
          </a:solidFill>
          <a:ln cap="flat" cmpd="sng" w="12700">
            <a:solidFill>
              <a:srgbClr val="0D7377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4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DB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9. Conclusioni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457200" y="96012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Risultati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Raggiunti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457200" y="2103120"/>
            <a:ext cx="411480" cy="411480"/>
          </a:xfrm>
          <a:prstGeom prst="roundRect">
            <a:avLst>
              <a:gd fmla="val 8889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4"/>
          <p:cNvSpPr/>
          <p:nvPr/>
        </p:nvSpPr>
        <p:spPr>
          <a:xfrm>
            <a:off x="457200" y="210312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987552" y="2130552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Analisi completa dei requisiti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457200" y="2679192"/>
            <a:ext cx="411480" cy="411480"/>
          </a:xfrm>
          <a:prstGeom prst="roundRect">
            <a:avLst>
              <a:gd fmla="val 8889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4"/>
          <p:cNvSpPr/>
          <p:nvPr/>
        </p:nvSpPr>
        <p:spPr>
          <a:xfrm>
            <a:off x="457200" y="267919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987552" y="2706624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Modello concettuale E/R con generalizzazioni risolte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457200" y="3255264"/>
            <a:ext cx="411480" cy="411480"/>
          </a:xfrm>
          <a:prstGeom prst="roundRect">
            <a:avLst>
              <a:gd fmla="val 8889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4"/>
          <p:cNvSpPr/>
          <p:nvPr/>
        </p:nvSpPr>
        <p:spPr>
          <a:xfrm>
            <a:off x="457200" y="3255264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987552" y="3282696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Modello relazionale normalizzato con 5 tabelle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457200" y="3831336"/>
            <a:ext cx="411480" cy="411480"/>
          </a:xfrm>
          <a:prstGeom prst="roundRect">
            <a:avLst>
              <a:gd fmla="val 8889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4"/>
          <p:cNvSpPr/>
          <p:nvPr/>
        </p:nvSpPr>
        <p:spPr>
          <a:xfrm>
            <a:off x="457200" y="3831336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987552" y="3858768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Applicazione web Django con interfaccia intuitiva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457200" y="4407408"/>
            <a:ext cx="411480" cy="411480"/>
          </a:xfrm>
          <a:prstGeom prst="roundRect">
            <a:avLst>
              <a:gd fmla="val 8889" name="adj"/>
            </a:avLst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4"/>
          <p:cNvSpPr/>
          <p:nvPr/>
        </p:nvSpPr>
        <p:spPr>
          <a:xfrm>
            <a:off x="457200" y="4407408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/>
          <p:nvPr/>
        </p:nvSpPr>
        <p:spPr>
          <a:xfrm>
            <a:off x="987552" y="443484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Meccanismi di sicurezza e integrità dei dati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4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DB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4BDBB"/>
                </a:solidFill>
                <a:latin typeface="Calibri"/>
                <a:ea typeface="Calibri"/>
                <a:cs typeface="Calibri"/>
                <a:sym typeface="Calibri"/>
              </a:rPr>
              <a:t>Vincenzo Cennamo · A.A. 2025/2026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2026-06-17T11:06:00Z</dcterms:created>
  <dc:creator>Vincenzo Cennamo</dc:creator>
</cp:coreProperties>
</file>